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286000" cy="73152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Calibri"/>
              </a:rPr>
              <a:t>Teach SAS to Read 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CFE3F5"/>
                </a:solidFill>
                <a:latin typeface="Calibri"/>
              </a:rPr>
              <a:t>Claude, PROC HTTP, and a Price Tag: which AI engine is worth the tokens, and how GitHub ships it to SAS Studio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North Texas SAS User Group (NoTSUG) 2026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Repo: github.com/Anacreo/NoTSUG-2026-SAS-AI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The problem: free text SAS can't quantify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Project structure (</a:t>
            </a:r>
            <a:r>
              <a:rPr sz="2200">
                <a:solidFill>
                  <a:srgbClr val="1F78C8"/>
                </a:solidFill>
                <a:latin typeface="Consolas"/>
              </a:rPr>
              <a:t>sas/</a:t>
            </a:r>
            <a:r>
              <a:rPr sz="2200">
                <a:solidFill>
                  <a:srgbClr val="444F5A"/>
                </a:solidFill>
                <a:latin typeface="Calibri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Calling the LLM with </a:t>
            </a:r>
            <a:r>
              <a:rPr sz="2200">
                <a:solidFill>
                  <a:srgbClr val="1F78C8"/>
                </a:solidFill>
                <a:latin typeface="Consolas"/>
              </a:rPr>
              <a:t>PROC 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Parsing 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5. Comparing engines: accuracy, calibration, </a:t>
            </a:r>
            <a:r>
              <a:rPr sz="2200" b="1">
                <a:solidFill>
                  <a:srgbClr val="444F5A"/>
                </a:solidFill>
                <a:latin typeface="Calibri"/>
              </a:rPr>
              <a:t>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6. GitHub building the code and feeding SAS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7. Lessons and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0B2A4A"/>
                </a:solidFill>
                <a:latin typeface="Calibri"/>
              </a:rPr>
              <a:t>Every slide shows code exactly as it exists in the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Survey question: </a:t>
            </a:r>
            <a:r>
              <a:rPr sz="2200" i="1">
                <a:solidFill>
                  <a:srgbClr val="0B2A4A"/>
                </a:solidFill>
                <a:latin typeface="Calibri"/>
              </a:rPr>
              <a:t>"How often does this advertisement appeal to you?"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"every once in a while it catches my eye"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"it appeals to me every single time"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PROC FREQ</a:t>
            </a:r>
            <a:r>
              <a:rPr sz="2200">
                <a:solidFill>
                  <a:srgbClr val="0B2A4A"/>
                </a:solidFill>
                <a:latin typeface="Calibri"/>
              </a:rPr>
              <a:t> counts values; it can't read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2A4A"/>
                </a:solidFill>
                <a:latin typeface="Calibri"/>
              </a:rPr>
              <a:t>Goal:</a:t>
            </a:r>
            <a:r>
              <a:rPr sz="2200">
                <a:solidFill>
                  <a:srgbClr val="0B2A4A"/>
                </a:solidFill>
                <a:latin typeface="Calibri"/>
              </a:rPr>
              <a:t> have Claude classify each answer into Never / Rarely / Sometimes / Often / Always, plus its own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0B2A4A"/>
                </a:solidFill>
                <a:latin typeface="Calibri"/>
              </a:rPr>
              <a:t> (0-1).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Why this test is measurable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01_generate_fake_data/generate_survey_data.sas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Fake respondents drawn from a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Multiple natural-language phrasings per bucket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proj.survey_responses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So we can score every engine's </a:t>
            </a:r>
            <a:r>
              <a:rPr sz="2200" b="1">
                <a:solidFill>
                  <a:srgbClr val="0B2A4A"/>
                </a:solidFill>
                <a:latin typeface="Calibri"/>
              </a:rPr>
              <a:t>accuracy</a:t>
            </a:r>
            <a:r>
              <a:rPr sz="2200">
                <a:solidFill>
                  <a:srgbClr val="0B2A4A"/>
                </a:solidFill>
                <a:latin typeface="Calibri"/>
              </a:rPr>
              <a:t> and check whether its </a:t>
            </a:r>
            <a:r>
              <a:rPr sz="2200" b="1">
                <a:solidFill>
                  <a:srgbClr val="0B2A4A"/>
                </a:solidFill>
                <a:latin typeface="Calibri"/>
              </a:rPr>
              <a:t>confidence is calibrated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Project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sas/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00_setup/               config.sas (paths, key, engine list)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01_generate_fake_data/  generate_survey_data.sas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02_call_claude/         prompt template + PROC HTTP calls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03_analyze_results/     accuracy, per-question, cost, stats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99_utils/               macros.sas, extract_json.sas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run_all.sas             full pipeline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Pipeline (run_all.sas)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442819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259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"&amp;code_root.00_setup/config.sas";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"&amp;code_root.01_generate_fake_data/generate_survey_data.sas";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"&amp;code_root.02_call_claude/01_prepare_requests.sas";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"&amp;code_root.02_call_claude/02_run_requests.sas";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"&amp;code_root.02_call_claude/03_parse_requests.sas";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"&amp;code_root.03_analyze_results/01_compare_engines.sas";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"&amp;code_root.03_analyze_results/02_question_by_engine.sas";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"&amp;code_root.03_analyze_results/03_cost_by_request.sas";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"&amp;code_root.03_analyze_results/04_statistical_tests.sas";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5157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Prepare, run, and parse are separate so each stage can be inspected and rerun.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Secrets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Key read from an external key file (path set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  <a:r>
              <a:rPr sz="2200">
                <a:solidFill>
                  <a:srgbClr val="444F5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Falls back to the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environment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hard-coded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10881360" cy="841247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10515600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anthropic_api_url     = https://api.anthropic.com/v1/messages;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anthropic_api_version = 2023-06-01;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Engines compared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proj.claude_engines;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datalines;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Claude Haiku 4.5 (fast, low cost)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Claude Sonnet 5 (balanced)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Claude Opus 5.5 (highest capability)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67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Add an engine = add one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00_list_models.sas</a:t>
            </a:r>
            <a:r>
              <a:rPr sz="2200">
                <a:solidFill>
                  <a:srgbClr val="0B2A4A"/>
                </a:solidFill>
                <a:latin typeface="Calibri"/>
              </a:rPr>
              <a:t> calls </a:t>
            </a:r>
            <a:r>
              <a:rPr sz="2200">
                <a:solidFill>
                  <a:srgbClr val="1F78C8"/>
                </a:solidFill>
                <a:latin typeface="Consolas"/>
              </a:rPr>
              <a:t>GET /v1/models</a:t>
            </a:r>
            <a:r>
              <a:rPr sz="2200">
                <a:solidFill>
                  <a:srgbClr val="0B2A4A"/>
                </a:solidFill>
                <a:latin typeface="Calibri"/>
              </a:rPr>
              <a:t> to verify IDs your key can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prompt (claude_prompt_template.sas)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Prompt lives in its own file: tune and version it without touching API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Role: careful market research analyst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Classify into exactly one of five buckets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Return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0-1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Respond with ONLY a single-line flat JSON object: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{"decision": "...", "reliability_score": ...}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1: build the request queue (01_prepare_requests.sas)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69164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create table proj.claude_requests 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select monotonic() as request_id, e.engine_id,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  'PENDING' as status,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from proj.claude_engines as e,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proj.survey_responses(obs=&amp;max_responses.) as s;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Cross join: every response x every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is a SAS table: inspect it before spending money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2: the API call (02_run_requests.sas)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01875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18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proc http method='POST' url="&amp;anthropic_api_url."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in=reqbody out=resp;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headers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'x-api-key'="&amp;anthropic_api_key."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'anthropic-version'="&amp;anthropic_api_version."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'content-type'='application/json';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run;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%let http_status=&amp;SYS_PROCHTTP_STATUS_CODE.;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106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Body built in a </a:t>
            </a:r>
            <a:r>
              <a:rPr sz="2200">
                <a:solidFill>
                  <a:srgbClr val="1F78C8"/>
                </a:solidFill>
                <a:latin typeface="Consolas"/>
              </a:rPr>
              <a:t>data _null_</a:t>
            </a:r>
            <a:r>
              <a:rPr sz="2200">
                <a:solidFill>
                  <a:srgbClr val="444F5A"/>
                </a:solidFill>
                <a:latin typeface="Calibri"/>
              </a:rPr>
              <a:t> step, JSON-escaped (backslash first, then quotes, then newlines)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50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Survey text stays in data rows, </a:t>
            </a:r>
            <a:r>
              <a:rPr sz="2200" b="1">
                <a:solidFill>
                  <a:srgbClr val="444F5A"/>
                </a:solidFill>
                <a:latin typeface="Calibri"/>
              </a:rPr>
              <a:t>not macro parameters</a:t>
            </a:r>
            <a:r>
              <a:rPr sz="2200">
                <a:solidFill>
                  <a:srgbClr val="444F5A"/>
                </a:solidFill>
                <a:latin typeface="Calibri"/>
              </a:rPr>
              <a:t>, so commas/quotes/ampersands can't break macro parsing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Bounded, restartable batches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batch_size = 200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claude_max_tokens =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Selects only </a:t>
            </a:r>
            <a:r>
              <a:rPr sz="2200">
                <a:solidFill>
                  <a:srgbClr val="1F78C8"/>
                </a:solidFill>
                <a:latin typeface="Consolas"/>
              </a:rPr>
              <a:t>status='PENDING'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Each request logged to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proj.claude_http_log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row updated: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or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, with </a:t>
            </a:r>
            <a:r>
              <a:rPr sz="2200">
                <a:solidFill>
                  <a:srgbClr val="1F78C8"/>
                </a:solidFill>
                <a:latin typeface="Consolas"/>
              </a:rPr>
              <a:t>http_status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raw_response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completed_at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Rerun to continue where you left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3: parse (03_parse_requests.sas)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Only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rows are parsed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PRXPARSE</a:t>
            </a:r>
            <a:r>
              <a:rPr sz="2200">
                <a:solidFill>
                  <a:srgbClr val="444F5A"/>
                </a:solidFill>
                <a:latin typeface="Calibri"/>
              </a:rPr>
              <a:t> pulls the model's text out of the response envelope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(FCMP in </a:t>
            </a:r>
            <a:r>
              <a:rPr sz="2200">
                <a:solidFill>
                  <a:srgbClr val="1F78C8"/>
                </a:solidFill>
                <a:latin typeface="Consolas"/>
              </a:rPr>
              <a:t>99_utils/extract_json.sas</a:t>
            </a:r>
            <a:r>
              <a:rPr sz="2200">
                <a:solidFill>
                  <a:srgbClr val="444F5A"/>
                </a:solidFill>
                <a:latin typeface="Calibri"/>
              </a:rPr>
              <a:t>) extracts </a:t>
            </a:r>
            <a:r>
              <a:rPr sz="2200">
                <a:solidFill>
                  <a:srgbClr val="1F78C8"/>
                </a:solidFill>
                <a:latin typeface="Consolas"/>
              </a:rPr>
              <a:t>decision</a:t>
            </a:r>
            <a:r>
              <a:rPr sz="2200">
                <a:solidFill>
                  <a:srgbClr val="444F5A"/>
                </a:solidFill>
                <a:latin typeface="Calibri"/>
              </a:rPr>
              <a:t> and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Bad output becomes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never a misleading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HTTP errors stay visible in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Comparing engines: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03_analyze_results/01_compare_engines.sas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Scores each engine's decision vs.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Ordinal rank format (</a:t>
            </a:r>
            <a:r>
              <a:rPr sz="2200">
                <a:solidFill>
                  <a:srgbClr val="1F78C8"/>
                </a:solidFill>
                <a:latin typeface="Consolas"/>
              </a:rPr>
              <a:t>bucket_rank</a:t>
            </a:r>
            <a:r>
              <a:rPr sz="2200">
                <a:solidFill>
                  <a:srgbClr val="444F5A"/>
                </a:solidFill>
                <a:latin typeface="Calibri"/>
              </a:rPr>
              <a:t>): Often vs Always is a smaller miss than Never vs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Does the self-reported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track real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proj.engine_scorecard</a:t>
            </a:r>
            <a:r>
              <a:rPr sz="2200">
                <a:solidFill>
                  <a:srgbClr val="444F5A"/>
                </a:solidFill>
                <a:latin typeface="Calibri"/>
              </a:rPr>
              <a:t>, reports, accuracy vs. avg reliability bar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02_question_by_engine.sas</a:t>
            </a:r>
            <a:r>
              <a:rPr sz="2200">
                <a:solidFill>
                  <a:srgbClr val="0B2A4A"/>
                </a:solidFill>
                <a:latin typeface="Calibri"/>
              </a:rPr>
              <a:t>: one row per question, each engine's answer side by side.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Statistical rigor (04_statistical_tests.sas)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Cochran's Q: paired differences in accuracy across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Brier score: calibration of stated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Reliability bins: stated confidence vs. observed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</a:t>
            </a:r>
            <a:r>
              <a:rPr sz="2200">
                <a:solidFill>
                  <a:srgbClr val="1F78C8"/>
                </a:solidFill>
                <a:latin typeface="Consolas"/>
              </a:rPr>
              <a:t>PROC FREQ AGREE</a:t>
            </a:r>
            <a:r>
              <a:rPr sz="2200">
                <a:solidFill>
                  <a:srgbClr val="444F5A"/>
                </a:solidFill>
                <a:latin typeface="Calibri"/>
              </a:rPr>
              <a:t>: weighted kappa for ordinal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 </a:t>
            </a:r>
            <a:r>
              <a:rPr sz="2200">
                <a:solidFill>
                  <a:srgbClr val="1F78C8"/>
                </a:solidFill>
                <a:latin typeface="Consolas"/>
              </a:rPr>
              <a:t>proj.brier_scorecard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proj.reliability_bins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proj.cochran_q_result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what the API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03_cost_by_request.sas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The API returns </a:t>
            </a:r>
            <a:r>
              <a:rPr sz="2200" b="1">
                <a:solidFill>
                  <a:srgbClr val="444F5A"/>
                </a:solidFill>
                <a:latin typeface="Calibri"/>
              </a:rPr>
              <a:t>tokens, not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Every response has a </a:t>
            </a:r>
            <a:r>
              <a:rPr sz="2200">
                <a:solidFill>
                  <a:srgbClr val="1F78C8"/>
                </a:solidFill>
                <a:latin typeface="Consolas"/>
              </a:rPr>
              <a:t>usage</a:t>
            </a:r>
            <a:r>
              <a:rPr sz="2200">
                <a:solidFill>
                  <a:srgbClr val="444F5A"/>
                </a:solidFill>
                <a:latin typeface="Calibri"/>
              </a:rPr>
              <a:t> block: </a:t>
            </a:r>
            <a:r>
              <a:rPr sz="2200">
                <a:solidFill>
                  <a:srgbClr val="1F78C8"/>
                </a:solidFill>
                <a:latin typeface="Consolas"/>
              </a:rPr>
              <a:t>input_tokens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output_tokens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cache token fields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Extracted with the same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helper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Cost = tokens x price per million tokens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editable price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975103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792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proj.model_pricing;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1  5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2  10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4  20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83863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$ per 1,000,000 tokens (input, output). Per the code comments: checked 2026-09-29, re-verify before budgeting; estimate only (cache and batch pricing not modeled).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the math in 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124712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(u.billable_input_tokens  * p.input_price_per_mtok  / 1000000) as input_cost,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(u.billable_output_tokens * p.output_price_per_mtok / 1000000) as output_cost,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calculated input_cost + calculated output_cost as est_cost_usd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906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proj.claude_request_cost</a:t>
            </a:r>
            <a:r>
              <a:rPr sz="2200">
                <a:solidFill>
                  <a:srgbClr val="444F5A"/>
                </a:solidFill>
                <a:latin typeface="Calibri"/>
              </a:rPr>
              <a:t> (one row per request)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478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proj.engine_cost_summary</a:t>
            </a:r>
            <a:r>
              <a:rPr sz="2200">
                <a:solidFill>
                  <a:srgbClr val="444F5A"/>
                </a:solidFill>
                <a:latin typeface="Calibri"/>
              </a:rPr>
              <a:t> (total and average per engine)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Review report for rows missing usage or pricing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Putting cost and accuracy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Calibration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Est. cost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Haiku 4.5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from engine_scorecard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engine_cost_summary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Sonnet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Opus 5.5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Live results from the demo run fill this in. The question: is the extra cost of a bigger engine buying accuracy on </a:t>
            </a:r>
            <a:r>
              <a:rPr sz="2200" i="1">
                <a:solidFill>
                  <a:srgbClr val="0B2A4A"/>
                </a:solidFill>
                <a:latin typeface="Calibri"/>
              </a:rPr>
              <a:t>this</a:t>
            </a:r>
            <a:r>
              <a:rPr sz="2200">
                <a:solidFill>
                  <a:srgbClr val="0B2A4A"/>
                </a:solidFill>
                <a:latin typeface="Calibri"/>
              </a:rPr>
              <a:t> task?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builds the SAS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All SAS lives in the repo; GitHub Copilot agent branches/PRs built the scaffold, run_all fixes, and model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Branches seen in this repo: scaffolding, </a:t>
            </a:r>
            <a:r>
              <a:rPr sz="2200">
                <a:solidFill>
                  <a:srgbClr val="1F78C8"/>
                </a:solidFill>
                <a:latin typeface="Consolas"/>
              </a:rPr>
              <a:t>update-run-all-sas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research-sas-code-warning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 = review gate for AI-generated code; history = audit trail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feeds SAS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Open the </a:t>
            </a:r>
            <a:r>
              <a:rPr sz="2200">
                <a:solidFill>
                  <a:srgbClr val="1F78C8"/>
                </a:solidFill>
                <a:latin typeface="Consolas"/>
              </a:rPr>
              <a:t>sas/</a:t>
            </a:r>
            <a:r>
              <a:rPr sz="2200">
                <a:solidFill>
                  <a:srgbClr val="444F5A"/>
                </a:solidFill>
                <a:latin typeface="Calibri"/>
              </a:rPr>
              <a:t> folder as a SAS Studio project (or copy to Files)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Set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or key file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Run </a:t>
            </a:r>
            <a:r>
              <a:rPr sz="2200">
                <a:solidFill>
                  <a:srgbClr val="1F78C8"/>
                </a:solidFill>
                <a:latin typeface="Consolas"/>
              </a:rPr>
              <a:t>run_all.sas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Edits made in SAS Studio flow back to GitHub (see the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  <a:r>
              <a:rPr sz="2200">
                <a:solidFill>
                  <a:srgbClr val="444F5A"/>
                </a:solidFill>
                <a:latin typeface="Calibri"/>
              </a:rPr>
              <a:t> branch)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Requires outbound HTTPS to </a:t>
            </a:r>
            <a:r>
              <a:rPr sz="2200">
                <a:solidFill>
                  <a:srgbClr val="1F78C8"/>
                </a:solidFill>
                <a:latin typeface="Consolas"/>
              </a:rPr>
              <a:t>api.anthropic.com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Lessons from the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the prompt in its own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Split queue / execute /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text in data, not macro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Fail visibly: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 status, missing-usage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Models get retired (</a:t>
            </a:r>
            <a:r>
              <a:rPr sz="2200">
                <a:solidFill>
                  <a:srgbClr val="1F78C8"/>
                </a:solidFill>
                <a:latin typeface="Consolas"/>
              </a:rPr>
              <a:t>model_update_note.sas</a:t>
            </a:r>
            <a:r>
              <a:rPr sz="2200">
                <a:solidFill>
                  <a:srgbClr val="444F5A"/>
                </a:solidFill>
                <a:latin typeface="Calibri"/>
              </a:rPr>
              <a:t>): keep the engine list in a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commit keys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</a:t>
            </a:r>
            <a:r>
              <a:rPr sz="2200">
                <a:solidFill>
                  <a:srgbClr val="1F78C8"/>
                </a:solidFill>
                <a:latin typeface="Consolas"/>
              </a:rPr>
              <a:t>config.sas</a:t>
            </a:r>
            <a:r>
              <a:rPr sz="2200">
                <a:solidFill>
                  <a:srgbClr val="444F5A"/>
                </a:solidFill>
                <a:latin typeface="Calibri"/>
              </a:rPr>
              <a:t>: engines and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</a:t>
            </a:r>
            <a:r>
              <a:rPr sz="2200">
                <a:solidFill>
                  <a:srgbClr val="1F78C8"/>
                </a:solidFill>
                <a:latin typeface="Consolas"/>
              </a:rPr>
              <a:t>01_prepare_requests.sas</a:t>
            </a:r>
            <a:r>
              <a:rPr sz="2200">
                <a:solidFill>
                  <a:srgbClr val="444F5A"/>
                </a:solidFill>
                <a:latin typeface="Calibri"/>
              </a:rPr>
              <a:t> then </a:t>
            </a:r>
            <a:r>
              <a:rPr sz="2200">
                <a:solidFill>
                  <a:srgbClr val="1F78C8"/>
                </a:solidFill>
                <a:latin typeface="Consolas"/>
              </a:rPr>
              <a:t>02_run_requests.sas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</a:t>
            </a:r>
            <a:r>
              <a:rPr sz="2200">
                <a:solidFill>
                  <a:srgbClr val="1F78C8"/>
                </a:solidFill>
                <a:latin typeface="Consolas"/>
              </a:rPr>
              <a:t>03_parse_requests.sas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Scorecard, per-question view, cost summary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CFE3F5"/>
                </a:solidFill>
                <a:latin typeface="Calibri"/>
              </a:rPr>
              <a:t>github.com/Anacreo/NoTSUG-2026-SAS-AI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